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BB853-2208-4D0A-731A-BDF85F7980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E8FCE9B-C9BD-E9F6-24A1-357112750E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9D21175-98DF-781A-9A9A-A58AC1931C7A}"/>
              </a:ext>
            </a:extLst>
          </p:cNvPr>
          <p:cNvSpPr>
            <a:spLocks noGrp="1"/>
          </p:cNvSpPr>
          <p:nvPr>
            <p:ph type="dt" sz="half" idx="10"/>
          </p:nvPr>
        </p:nvSpPr>
        <p:spPr/>
        <p:txBody>
          <a:bodyPr/>
          <a:lstStyle/>
          <a:p>
            <a:fld id="{837B6B17-5F2F-47B9-9FB7-BEF760B36C6E}" type="datetimeFigureOut">
              <a:rPr lang="en-IN" smtClean="0"/>
              <a:t>03-07-2026</a:t>
            </a:fld>
            <a:endParaRPr lang="en-IN"/>
          </a:p>
        </p:txBody>
      </p:sp>
      <p:sp>
        <p:nvSpPr>
          <p:cNvPr id="5" name="Footer Placeholder 4">
            <a:extLst>
              <a:ext uri="{FF2B5EF4-FFF2-40B4-BE49-F238E27FC236}">
                <a16:creationId xmlns:a16="http://schemas.microsoft.com/office/drawing/2014/main" id="{06459753-DCE8-360B-8354-8437B72E30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093621-3063-2A67-9324-4A6332923BEA}"/>
              </a:ext>
            </a:extLst>
          </p:cNvPr>
          <p:cNvSpPr>
            <a:spLocks noGrp="1"/>
          </p:cNvSpPr>
          <p:nvPr>
            <p:ph type="sldNum" sz="quarter" idx="12"/>
          </p:nvPr>
        </p:nvSpPr>
        <p:spPr/>
        <p:txBody>
          <a:bodyPr/>
          <a:lstStyle/>
          <a:p>
            <a:fld id="{0346BB33-6761-4184-85B8-AD427DE87265}" type="slidenum">
              <a:rPr lang="en-IN" smtClean="0"/>
              <a:t>‹#›</a:t>
            </a:fld>
            <a:endParaRPr lang="en-IN"/>
          </a:p>
        </p:txBody>
      </p:sp>
    </p:spTree>
    <p:extLst>
      <p:ext uri="{BB962C8B-B14F-4D97-AF65-F5344CB8AC3E}">
        <p14:creationId xmlns:p14="http://schemas.microsoft.com/office/powerpoint/2010/main" val="59354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7D623-AF3F-E4A1-D889-B3AB5386BE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68A005-1A53-C109-40B6-2B28917866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282BA7-768A-6C8B-CA39-98D0B46D0A4D}"/>
              </a:ext>
            </a:extLst>
          </p:cNvPr>
          <p:cNvSpPr>
            <a:spLocks noGrp="1"/>
          </p:cNvSpPr>
          <p:nvPr>
            <p:ph type="dt" sz="half" idx="10"/>
          </p:nvPr>
        </p:nvSpPr>
        <p:spPr/>
        <p:txBody>
          <a:bodyPr/>
          <a:lstStyle/>
          <a:p>
            <a:fld id="{837B6B17-5F2F-47B9-9FB7-BEF760B36C6E}" type="datetimeFigureOut">
              <a:rPr lang="en-IN" smtClean="0"/>
              <a:t>03-07-2026</a:t>
            </a:fld>
            <a:endParaRPr lang="en-IN"/>
          </a:p>
        </p:txBody>
      </p:sp>
      <p:sp>
        <p:nvSpPr>
          <p:cNvPr id="5" name="Footer Placeholder 4">
            <a:extLst>
              <a:ext uri="{FF2B5EF4-FFF2-40B4-BE49-F238E27FC236}">
                <a16:creationId xmlns:a16="http://schemas.microsoft.com/office/drawing/2014/main" id="{92086A48-8205-E359-0B4E-BD4CB3A791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16E693-26E3-E773-2230-45CFCF16AA68}"/>
              </a:ext>
            </a:extLst>
          </p:cNvPr>
          <p:cNvSpPr>
            <a:spLocks noGrp="1"/>
          </p:cNvSpPr>
          <p:nvPr>
            <p:ph type="sldNum" sz="quarter" idx="12"/>
          </p:nvPr>
        </p:nvSpPr>
        <p:spPr/>
        <p:txBody>
          <a:bodyPr/>
          <a:lstStyle/>
          <a:p>
            <a:fld id="{0346BB33-6761-4184-85B8-AD427DE87265}" type="slidenum">
              <a:rPr lang="en-IN" smtClean="0"/>
              <a:t>‹#›</a:t>
            </a:fld>
            <a:endParaRPr lang="en-IN"/>
          </a:p>
        </p:txBody>
      </p:sp>
    </p:spTree>
    <p:extLst>
      <p:ext uri="{BB962C8B-B14F-4D97-AF65-F5344CB8AC3E}">
        <p14:creationId xmlns:p14="http://schemas.microsoft.com/office/powerpoint/2010/main" val="3107108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3D57A-B159-66E9-2164-ADDB180B0D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33BBDC0-3C06-535B-6611-D8EEB2F8D82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E8096D-7B29-63A4-6F7E-2BC0DC82510F}"/>
              </a:ext>
            </a:extLst>
          </p:cNvPr>
          <p:cNvSpPr>
            <a:spLocks noGrp="1"/>
          </p:cNvSpPr>
          <p:nvPr>
            <p:ph type="dt" sz="half" idx="10"/>
          </p:nvPr>
        </p:nvSpPr>
        <p:spPr/>
        <p:txBody>
          <a:bodyPr/>
          <a:lstStyle/>
          <a:p>
            <a:fld id="{837B6B17-5F2F-47B9-9FB7-BEF760B36C6E}" type="datetimeFigureOut">
              <a:rPr lang="en-IN" smtClean="0"/>
              <a:t>03-07-2026</a:t>
            </a:fld>
            <a:endParaRPr lang="en-IN"/>
          </a:p>
        </p:txBody>
      </p:sp>
      <p:sp>
        <p:nvSpPr>
          <p:cNvPr id="5" name="Footer Placeholder 4">
            <a:extLst>
              <a:ext uri="{FF2B5EF4-FFF2-40B4-BE49-F238E27FC236}">
                <a16:creationId xmlns:a16="http://schemas.microsoft.com/office/drawing/2014/main" id="{3CD606EE-9C39-6DD7-BA84-BB82889AF1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6BB19B-C142-8171-35E1-231CF24E5C13}"/>
              </a:ext>
            </a:extLst>
          </p:cNvPr>
          <p:cNvSpPr>
            <a:spLocks noGrp="1"/>
          </p:cNvSpPr>
          <p:nvPr>
            <p:ph type="sldNum" sz="quarter" idx="12"/>
          </p:nvPr>
        </p:nvSpPr>
        <p:spPr/>
        <p:txBody>
          <a:bodyPr/>
          <a:lstStyle/>
          <a:p>
            <a:fld id="{0346BB33-6761-4184-85B8-AD427DE87265}" type="slidenum">
              <a:rPr lang="en-IN" smtClean="0"/>
              <a:t>‹#›</a:t>
            </a:fld>
            <a:endParaRPr lang="en-IN"/>
          </a:p>
        </p:txBody>
      </p:sp>
    </p:spTree>
    <p:extLst>
      <p:ext uri="{BB962C8B-B14F-4D97-AF65-F5344CB8AC3E}">
        <p14:creationId xmlns:p14="http://schemas.microsoft.com/office/powerpoint/2010/main" val="3318955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847AE-C8BE-9975-D8AF-8EB0F22E9B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CE8C60-50EE-EEFC-D339-C42C42949D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3C84132-8F54-3C0A-F5C0-545DA01245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8EA90EF-630B-E787-5BBC-8B58EAD81638}"/>
              </a:ext>
            </a:extLst>
          </p:cNvPr>
          <p:cNvSpPr>
            <a:spLocks noGrp="1"/>
          </p:cNvSpPr>
          <p:nvPr>
            <p:ph type="dt" sz="half" idx="10"/>
          </p:nvPr>
        </p:nvSpPr>
        <p:spPr/>
        <p:txBody>
          <a:bodyPr/>
          <a:lstStyle/>
          <a:p>
            <a:fld id="{837B6B17-5F2F-47B9-9FB7-BEF760B36C6E}" type="datetimeFigureOut">
              <a:rPr lang="en-IN" smtClean="0"/>
              <a:t>03-07-2026</a:t>
            </a:fld>
            <a:endParaRPr lang="en-IN"/>
          </a:p>
        </p:txBody>
      </p:sp>
      <p:sp>
        <p:nvSpPr>
          <p:cNvPr id="6" name="Footer Placeholder 5">
            <a:extLst>
              <a:ext uri="{FF2B5EF4-FFF2-40B4-BE49-F238E27FC236}">
                <a16:creationId xmlns:a16="http://schemas.microsoft.com/office/drawing/2014/main" id="{F021765C-A522-12E7-BF6C-EB48EEE50F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1B7965-9306-B460-E120-AA238DCB3228}"/>
              </a:ext>
            </a:extLst>
          </p:cNvPr>
          <p:cNvSpPr>
            <a:spLocks noGrp="1"/>
          </p:cNvSpPr>
          <p:nvPr>
            <p:ph type="sldNum" sz="quarter" idx="12"/>
          </p:nvPr>
        </p:nvSpPr>
        <p:spPr/>
        <p:txBody>
          <a:bodyPr/>
          <a:lstStyle/>
          <a:p>
            <a:fld id="{0346BB33-6761-4184-85B8-AD427DE87265}" type="slidenum">
              <a:rPr lang="en-IN" smtClean="0"/>
              <a:t>‹#›</a:t>
            </a:fld>
            <a:endParaRPr lang="en-IN"/>
          </a:p>
        </p:txBody>
      </p:sp>
    </p:spTree>
    <p:extLst>
      <p:ext uri="{BB962C8B-B14F-4D97-AF65-F5344CB8AC3E}">
        <p14:creationId xmlns:p14="http://schemas.microsoft.com/office/powerpoint/2010/main" val="3638091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38ECF-DC8F-34A0-C3FA-248833923BB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297AF3-BD19-FCB2-1A52-7562F785F1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39262C-7AF6-8F6E-57F6-B6F797D8B5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6586BDB-1CFD-20C5-4C16-9037E93547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32E84D-802D-0F3A-C669-28337D8B45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98B87EE-0235-DFBB-95C0-058B76519D0B}"/>
              </a:ext>
            </a:extLst>
          </p:cNvPr>
          <p:cNvSpPr>
            <a:spLocks noGrp="1"/>
          </p:cNvSpPr>
          <p:nvPr>
            <p:ph type="dt" sz="half" idx="10"/>
          </p:nvPr>
        </p:nvSpPr>
        <p:spPr/>
        <p:txBody>
          <a:bodyPr/>
          <a:lstStyle/>
          <a:p>
            <a:fld id="{837B6B17-5F2F-47B9-9FB7-BEF760B36C6E}" type="datetimeFigureOut">
              <a:rPr lang="en-IN" smtClean="0"/>
              <a:t>03-07-2026</a:t>
            </a:fld>
            <a:endParaRPr lang="en-IN"/>
          </a:p>
        </p:txBody>
      </p:sp>
      <p:sp>
        <p:nvSpPr>
          <p:cNvPr id="8" name="Footer Placeholder 7">
            <a:extLst>
              <a:ext uri="{FF2B5EF4-FFF2-40B4-BE49-F238E27FC236}">
                <a16:creationId xmlns:a16="http://schemas.microsoft.com/office/drawing/2014/main" id="{709C6097-AB4B-86AA-44F3-077CBF1B3FB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086B2CD-7E25-629C-73B5-96518E636488}"/>
              </a:ext>
            </a:extLst>
          </p:cNvPr>
          <p:cNvSpPr>
            <a:spLocks noGrp="1"/>
          </p:cNvSpPr>
          <p:nvPr>
            <p:ph type="sldNum" sz="quarter" idx="12"/>
          </p:nvPr>
        </p:nvSpPr>
        <p:spPr/>
        <p:txBody>
          <a:bodyPr/>
          <a:lstStyle/>
          <a:p>
            <a:fld id="{0346BB33-6761-4184-85B8-AD427DE87265}" type="slidenum">
              <a:rPr lang="en-IN" smtClean="0"/>
              <a:t>‹#›</a:t>
            </a:fld>
            <a:endParaRPr lang="en-IN"/>
          </a:p>
        </p:txBody>
      </p:sp>
    </p:spTree>
    <p:extLst>
      <p:ext uri="{BB962C8B-B14F-4D97-AF65-F5344CB8AC3E}">
        <p14:creationId xmlns:p14="http://schemas.microsoft.com/office/powerpoint/2010/main" val="2628198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AE4DB-8918-F4CA-8B29-FB3916C29F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597EBB6-4E60-8C77-FC6A-BF7454A21307}"/>
              </a:ext>
            </a:extLst>
          </p:cNvPr>
          <p:cNvSpPr>
            <a:spLocks noGrp="1"/>
          </p:cNvSpPr>
          <p:nvPr>
            <p:ph type="dt" sz="half" idx="10"/>
          </p:nvPr>
        </p:nvSpPr>
        <p:spPr/>
        <p:txBody>
          <a:bodyPr/>
          <a:lstStyle/>
          <a:p>
            <a:fld id="{837B6B17-5F2F-47B9-9FB7-BEF760B36C6E}" type="datetimeFigureOut">
              <a:rPr lang="en-IN" smtClean="0"/>
              <a:t>03-07-2026</a:t>
            </a:fld>
            <a:endParaRPr lang="en-IN"/>
          </a:p>
        </p:txBody>
      </p:sp>
      <p:sp>
        <p:nvSpPr>
          <p:cNvPr id="4" name="Footer Placeholder 3">
            <a:extLst>
              <a:ext uri="{FF2B5EF4-FFF2-40B4-BE49-F238E27FC236}">
                <a16:creationId xmlns:a16="http://schemas.microsoft.com/office/drawing/2014/main" id="{34BB1C91-46BF-0269-6D94-8C6651ED737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E835CC5-A7FF-B48D-C6A4-A0C51A4367CB}"/>
              </a:ext>
            </a:extLst>
          </p:cNvPr>
          <p:cNvSpPr>
            <a:spLocks noGrp="1"/>
          </p:cNvSpPr>
          <p:nvPr>
            <p:ph type="sldNum" sz="quarter" idx="12"/>
          </p:nvPr>
        </p:nvSpPr>
        <p:spPr/>
        <p:txBody>
          <a:bodyPr/>
          <a:lstStyle/>
          <a:p>
            <a:fld id="{0346BB33-6761-4184-85B8-AD427DE87265}" type="slidenum">
              <a:rPr lang="en-IN" smtClean="0"/>
              <a:t>‹#›</a:t>
            </a:fld>
            <a:endParaRPr lang="en-IN"/>
          </a:p>
        </p:txBody>
      </p:sp>
    </p:spTree>
    <p:extLst>
      <p:ext uri="{BB962C8B-B14F-4D97-AF65-F5344CB8AC3E}">
        <p14:creationId xmlns:p14="http://schemas.microsoft.com/office/powerpoint/2010/main" val="559088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17D736-EED6-6042-2C0D-2AF89311E97F}"/>
              </a:ext>
            </a:extLst>
          </p:cNvPr>
          <p:cNvSpPr>
            <a:spLocks noGrp="1"/>
          </p:cNvSpPr>
          <p:nvPr>
            <p:ph type="dt" sz="half" idx="10"/>
          </p:nvPr>
        </p:nvSpPr>
        <p:spPr/>
        <p:txBody>
          <a:bodyPr/>
          <a:lstStyle/>
          <a:p>
            <a:fld id="{837B6B17-5F2F-47B9-9FB7-BEF760B36C6E}" type="datetimeFigureOut">
              <a:rPr lang="en-IN" smtClean="0"/>
              <a:t>03-07-2026</a:t>
            </a:fld>
            <a:endParaRPr lang="en-IN"/>
          </a:p>
        </p:txBody>
      </p:sp>
      <p:sp>
        <p:nvSpPr>
          <p:cNvPr id="3" name="Footer Placeholder 2">
            <a:extLst>
              <a:ext uri="{FF2B5EF4-FFF2-40B4-BE49-F238E27FC236}">
                <a16:creationId xmlns:a16="http://schemas.microsoft.com/office/drawing/2014/main" id="{DD3F2893-4547-A5D6-96DB-79BE2740C40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21B8EBB-4AD4-598B-164B-5C87F669D164}"/>
              </a:ext>
            </a:extLst>
          </p:cNvPr>
          <p:cNvSpPr>
            <a:spLocks noGrp="1"/>
          </p:cNvSpPr>
          <p:nvPr>
            <p:ph type="sldNum" sz="quarter" idx="12"/>
          </p:nvPr>
        </p:nvSpPr>
        <p:spPr/>
        <p:txBody>
          <a:bodyPr/>
          <a:lstStyle/>
          <a:p>
            <a:fld id="{0346BB33-6761-4184-85B8-AD427DE87265}" type="slidenum">
              <a:rPr lang="en-IN" smtClean="0"/>
              <a:t>‹#›</a:t>
            </a:fld>
            <a:endParaRPr lang="en-IN"/>
          </a:p>
        </p:txBody>
      </p:sp>
    </p:spTree>
    <p:extLst>
      <p:ext uri="{BB962C8B-B14F-4D97-AF65-F5344CB8AC3E}">
        <p14:creationId xmlns:p14="http://schemas.microsoft.com/office/powerpoint/2010/main" val="1013996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FFD24-5B29-E7F7-E7E6-09DFFB498E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0D0D64E-9E80-F98E-CC32-283B48F93D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27F5375-8E45-10C5-5754-C663B447D8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7CFC3D-9AB2-5D2E-E24D-E102501573CC}"/>
              </a:ext>
            </a:extLst>
          </p:cNvPr>
          <p:cNvSpPr>
            <a:spLocks noGrp="1"/>
          </p:cNvSpPr>
          <p:nvPr>
            <p:ph type="dt" sz="half" idx="10"/>
          </p:nvPr>
        </p:nvSpPr>
        <p:spPr/>
        <p:txBody>
          <a:bodyPr/>
          <a:lstStyle/>
          <a:p>
            <a:fld id="{837B6B17-5F2F-47B9-9FB7-BEF760B36C6E}" type="datetimeFigureOut">
              <a:rPr lang="en-IN" smtClean="0"/>
              <a:t>03-07-2026</a:t>
            </a:fld>
            <a:endParaRPr lang="en-IN"/>
          </a:p>
        </p:txBody>
      </p:sp>
      <p:sp>
        <p:nvSpPr>
          <p:cNvPr id="6" name="Footer Placeholder 5">
            <a:extLst>
              <a:ext uri="{FF2B5EF4-FFF2-40B4-BE49-F238E27FC236}">
                <a16:creationId xmlns:a16="http://schemas.microsoft.com/office/drawing/2014/main" id="{CF8411F3-D0DA-62D5-519C-756D0B5D12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EF9306-3AFC-B8E4-D25F-3507B816772E}"/>
              </a:ext>
            </a:extLst>
          </p:cNvPr>
          <p:cNvSpPr>
            <a:spLocks noGrp="1"/>
          </p:cNvSpPr>
          <p:nvPr>
            <p:ph type="sldNum" sz="quarter" idx="12"/>
          </p:nvPr>
        </p:nvSpPr>
        <p:spPr/>
        <p:txBody>
          <a:bodyPr/>
          <a:lstStyle/>
          <a:p>
            <a:fld id="{0346BB33-6761-4184-85B8-AD427DE87265}" type="slidenum">
              <a:rPr lang="en-IN" smtClean="0"/>
              <a:t>‹#›</a:t>
            </a:fld>
            <a:endParaRPr lang="en-IN"/>
          </a:p>
        </p:txBody>
      </p:sp>
    </p:spTree>
    <p:extLst>
      <p:ext uri="{BB962C8B-B14F-4D97-AF65-F5344CB8AC3E}">
        <p14:creationId xmlns:p14="http://schemas.microsoft.com/office/powerpoint/2010/main" val="474562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66F21-91D6-F83F-85D6-899AD25BED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37D1A74-F770-78A1-7C8D-A299439576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27BB27C-7E24-410D-5C3D-6FC2405D05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61F2B3-AE29-62A4-8A82-852B80CA94B1}"/>
              </a:ext>
            </a:extLst>
          </p:cNvPr>
          <p:cNvSpPr>
            <a:spLocks noGrp="1"/>
          </p:cNvSpPr>
          <p:nvPr>
            <p:ph type="dt" sz="half" idx="10"/>
          </p:nvPr>
        </p:nvSpPr>
        <p:spPr/>
        <p:txBody>
          <a:bodyPr/>
          <a:lstStyle/>
          <a:p>
            <a:fld id="{837B6B17-5F2F-47B9-9FB7-BEF760B36C6E}" type="datetimeFigureOut">
              <a:rPr lang="en-IN" smtClean="0"/>
              <a:t>03-07-2026</a:t>
            </a:fld>
            <a:endParaRPr lang="en-IN"/>
          </a:p>
        </p:txBody>
      </p:sp>
      <p:sp>
        <p:nvSpPr>
          <p:cNvPr id="6" name="Footer Placeholder 5">
            <a:extLst>
              <a:ext uri="{FF2B5EF4-FFF2-40B4-BE49-F238E27FC236}">
                <a16:creationId xmlns:a16="http://schemas.microsoft.com/office/drawing/2014/main" id="{AA65CEE0-24F9-B266-25CB-83C9097FE0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6A55D10-12E5-B4BC-BFC2-C72DD76FBF80}"/>
              </a:ext>
            </a:extLst>
          </p:cNvPr>
          <p:cNvSpPr>
            <a:spLocks noGrp="1"/>
          </p:cNvSpPr>
          <p:nvPr>
            <p:ph type="sldNum" sz="quarter" idx="12"/>
          </p:nvPr>
        </p:nvSpPr>
        <p:spPr/>
        <p:txBody>
          <a:bodyPr/>
          <a:lstStyle/>
          <a:p>
            <a:fld id="{0346BB33-6761-4184-85B8-AD427DE87265}" type="slidenum">
              <a:rPr lang="en-IN" smtClean="0"/>
              <a:t>‹#›</a:t>
            </a:fld>
            <a:endParaRPr lang="en-IN"/>
          </a:p>
        </p:txBody>
      </p:sp>
    </p:spTree>
    <p:extLst>
      <p:ext uri="{BB962C8B-B14F-4D97-AF65-F5344CB8AC3E}">
        <p14:creationId xmlns:p14="http://schemas.microsoft.com/office/powerpoint/2010/main" val="35936501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A9540-197D-613A-8CEB-66019C35283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15E70D-E12C-CCA4-DF3D-2AF4D017B3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629D8B-1A7B-8FD7-BC8F-5F0449D2569B}"/>
              </a:ext>
            </a:extLst>
          </p:cNvPr>
          <p:cNvSpPr>
            <a:spLocks noGrp="1"/>
          </p:cNvSpPr>
          <p:nvPr>
            <p:ph type="dt" sz="half" idx="10"/>
          </p:nvPr>
        </p:nvSpPr>
        <p:spPr/>
        <p:txBody>
          <a:bodyPr/>
          <a:lstStyle/>
          <a:p>
            <a:fld id="{837B6B17-5F2F-47B9-9FB7-BEF760B36C6E}" type="datetimeFigureOut">
              <a:rPr lang="en-IN" smtClean="0"/>
              <a:t>03-07-2026</a:t>
            </a:fld>
            <a:endParaRPr lang="en-IN"/>
          </a:p>
        </p:txBody>
      </p:sp>
      <p:sp>
        <p:nvSpPr>
          <p:cNvPr id="5" name="Footer Placeholder 4">
            <a:extLst>
              <a:ext uri="{FF2B5EF4-FFF2-40B4-BE49-F238E27FC236}">
                <a16:creationId xmlns:a16="http://schemas.microsoft.com/office/drawing/2014/main" id="{9D3143C9-39D6-4C94-3F8A-C35A16BFAD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755563-5963-04E6-4B71-A4F7E4683512}"/>
              </a:ext>
            </a:extLst>
          </p:cNvPr>
          <p:cNvSpPr>
            <a:spLocks noGrp="1"/>
          </p:cNvSpPr>
          <p:nvPr>
            <p:ph type="sldNum" sz="quarter" idx="12"/>
          </p:nvPr>
        </p:nvSpPr>
        <p:spPr/>
        <p:txBody>
          <a:bodyPr/>
          <a:lstStyle/>
          <a:p>
            <a:fld id="{0346BB33-6761-4184-85B8-AD427DE87265}" type="slidenum">
              <a:rPr lang="en-IN" smtClean="0"/>
              <a:t>‹#›</a:t>
            </a:fld>
            <a:endParaRPr lang="en-IN"/>
          </a:p>
        </p:txBody>
      </p:sp>
    </p:spTree>
    <p:extLst>
      <p:ext uri="{BB962C8B-B14F-4D97-AF65-F5344CB8AC3E}">
        <p14:creationId xmlns:p14="http://schemas.microsoft.com/office/powerpoint/2010/main" val="3682934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0C300E-A490-1475-F121-9C14A74791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7EF6060-7109-39F5-7A6C-EF468C1D00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BAE0C8-6589-A50F-BE1C-45D27DA84016}"/>
              </a:ext>
            </a:extLst>
          </p:cNvPr>
          <p:cNvSpPr>
            <a:spLocks noGrp="1"/>
          </p:cNvSpPr>
          <p:nvPr>
            <p:ph type="dt" sz="half" idx="10"/>
          </p:nvPr>
        </p:nvSpPr>
        <p:spPr/>
        <p:txBody>
          <a:bodyPr/>
          <a:lstStyle/>
          <a:p>
            <a:fld id="{837B6B17-5F2F-47B9-9FB7-BEF760B36C6E}" type="datetimeFigureOut">
              <a:rPr lang="en-IN" smtClean="0"/>
              <a:t>03-07-2026</a:t>
            </a:fld>
            <a:endParaRPr lang="en-IN"/>
          </a:p>
        </p:txBody>
      </p:sp>
      <p:sp>
        <p:nvSpPr>
          <p:cNvPr id="5" name="Footer Placeholder 4">
            <a:extLst>
              <a:ext uri="{FF2B5EF4-FFF2-40B4-BE49-F238E27FC236}">
                <a16:creationId xmlns:a16="http://schemas.microsoft.com/office/drawing/2014/main" id="{453352A4-448C-A4EB-6677-266D350BE8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59FFEC-0E12-70AC-CC3E-2A9FB0302AE4}"/>
              </a:ext>
            </a:extLst>
          </p:cNvPr>
          <p:cNvSpPr>
            <a:spLocks noGrp="1"/>
          </p:cNvSpPr>
          <p:nvPr>
            <p:ph type="sldNum" sz="quarter" idx="12"/>
          </p:nvPr>
        </p:nvSpPr>
        <p:spPr/>
        <p:txBody>
          <a:bodyPr/>
          <a:lstStyle/>
          <a:p>
            <a:fld id="{0346BB33-6761-4184-85B8-AD427DE87265}" type="slidenum">
              <a:rPr lang="en-IN" smtClean="0"/>
              <a:t>‹#›</a:t>
            </a:fld>
            <a:endParaRPr lang="en-IN"/>
          </a:p>
        </p:txBody>
      </p:sp>
    </p:spTree>
    <p:extLst>
      <p:ext uri="{BB962C8B-B14F-4D97-AF65-F5344CB8AC3E}">
        <p14:creationId xmlns:p14="http://schemas.microsoft.com/office/powerpoint/2010/main" val="2306932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667647-4AF1-2513-13B8-BF2A2E9F58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4DC553-6EA5-C103-B51C-F846110187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A79F92-0E9E-8034-BC68-82EDB1BE11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7B6B17-5F2F-47B9-9FB7-BEF760B36C6E}" type="datetimeFigureOut">
              <a:rPr lang="en-IN" smtClean="0"/>
              <a:t>03-07-2026</a:t>
            </a:fld>
            <a:endParaRPr lang="en-IN"/>
          </a:p>
        </p:txBody>
      </p:sp>
      <p:sp>
        <p:nvSpPr>
          <p:cNvPr id="5" name="Footer Placeholder 4">
            <a:extLst>
              <a:ext uri="{FF2B5EF4-FFF2-40B4-BE49-F238E27FC236}">
                <a16:creationId xmlns:a16="http://schemas.microsoft.com/office/drawing/2014/main" id="{B432A8BB-1C8C-C928-9CEE-BBFD729844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DB717B5-29C4-2F3C-0D41-ECD6CD6C7A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346BB33-6761-4184-85B8-AD427DE87265}" type="slidenum">
              <a:rPr lang="en-IN" smtClean="0"/>
              <a:t>‹#›</a:t>
            </a:fld>
            <a:endParaRPr lang="en-IN"/>
          </a:p>
        </p:txBody>
      </p:sp>
    </p:spTree>
    <p:extLst>
      <p:ext uri="{BB962C8B-B14F-4D97-AF65-F5344CB8AC3E}">
        <p14:creationId xmlns:p14="http://schemas.microsoft.com/office/powerpoint/2010/main" val="29410691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8A9F0-EAF9-C104-E707-4BA9A6E6215C}"/>
              </a:ext>
            </a:extLst>
          </p:cNvPr>
          <p:cNvSpPr>
            <a:spLocks noGrp="1"/>
          </p:cNvSpPr>
          <p:nvPr>
            <p:ph type="ctrTitle"/>
          </p:nvPr>
        </p:nvSpPr>
        <p:spPr>
          <a:xfrm>
            <a:off x="1007806" y="706207"/>
            <a:ext cx="10176387" cy="832312"/>
          </a:xfrm>
        </p:spPr>
        <p:txBody>
          <a:bodyPr>
            <a:noAutofit/>
          </a:bodyPr>
          <a:lstStyle/>
          <a:p>
            <a:r>
              <a:rPr lang="en-US" sz="3600" b="1" dirty="0"/>
              <a:t>Sales Performance Dashboard</a:t>
            </a:r>
            <a:endParaRPr lang="en-IN" sz="3600" b="1" dirty="0"/>
          </a:p>
        </p:txBody>
      </p:sp>
      <p:sp>
        <p:nvSpPr>
          <p:cNvPr id="3" name="Subtitle 2">
            <a:extLst>
              <a:ext uri="{FF2B5EF4-FFF2-40B4-BE49-F238E27FC236}">
                <a16:creationId xmlns:a16="http://schemas.microsoft.com/office/drawing/2014/main" id="{7B825114-2D13-20F6-89FA-468B513CC4A9}"/>
              </a:ext>
            </a:extLst>
          </p:cNvPr>
          <p:cNvSpPr>
            <a:spLocks noGrp="1"/>
          </p:cNvSpPr>
          <p:nvPr>
            <p:ph type="subTitle" idx="1"/>
          </p:nvPr>
        </p:nvSpPr>
        <p:spPr>
          <a:xfrm>
            <a:off x="3193024" y="2281570"/>
            <a:ext cx="5805949" cy="832312"/>
          </a:xfrm>
        </p:spPr>
        <p:txBody>
          <a:bodyPr>
            <a:normAutofit fontScale="92500" lnSpcReduction="10000"/>
          </a:bodyPr>
          <a:lstStyle/>
          <a:p>
            <a:r>
              <a:rPr lang="en-US" sz="2800" b="1" dirty="0"/>
              <a:t>Data Analyst Internship-Task 4</a:t>
            </a:r>
          </a:p>
          <a:p>
            <a:r>
              <a:rPr lang="en-US" dirty="0"/>
              <a:t>Prepared by : </a:t>
            </a:r>
            <a:r>
              <a:rPr lang="en-US" b="1" dirty="0"/>
              <a:t>Adithyan A S</a:t>
            </a:r>
            <a:endParaRPr lang="en-IN" b="1" dirty="0"/>
          </a:p>
        </p:txBody>
      </p:sp>
      <p:sp>
        <p:nvSpPr>
          <p:cNvPr id="4" name="TextBox 3">
            <a:extLst>
              <a:ext uri="{FF2B5EF4-FFF2-40B4-BE49-F238E27FC236}">
                <a16:creationId xmlns:a16="http://schemas.microsoft.com/office/drawing/2014/main" id="{6112F384-D00E-FA26-3796-84A5299290CD}"/>
              </a:ext>
            </a:extLst>
          </p:cNvPr>
          <p:cNvSpPr txBox="1"/>
          <p:nvPr/>
        </p:nvSpPr>
        <p:spPr>
          <a:xfrm>
            <a:off x="4798141" y="4120468"/>
            <a:ext cx="6685936" cy="2031325"/>
          </a:xfrm>
          <a:prstGeom prst="rect">
            <a:avLst/>
          </a:prstGeom>
          <a:noFill/>
        </p:spPr>
        <p:txBody>
          <a:bodyPr wrap="square" rtlCol="0">
            <a:spAutoFit/>
          </a:bodyPr>
          <a:lstStyle/>
          <a:p>
            <a:r>
              <a:rPr lang="en-US" dirty="0"/>
              <a:t>Tools Used:</a:t>
            </a:r>
          </a:p>
          <a:p>
            <a:pPr marL="285750" indent="-285750">
              <a:buFont typeface="Arial" panose="020B0604020202020204" pitchFamily="34" charset="0"/>
              <a:buChar char="•"/>
            </a:pPr>
            <a:r>
              <a:rPr lang="en-US" dirty="0"/>
              <a:t>Power BI Desktop</a:t>
            </a:r>
          </a:p>
          <a:p>
            <a:pPr marL="285750" indent="-285750">
              <a:buFont typeface="Arial" panose="020B0604020202020204" pitchFamily="34" charset="0"/>
              <a:buChar char="•"/>
            </a:pPr>
            <a:r>
              <a:rPr lang="en-US" dirty="0"/>
              <a:t>Microsoft Excel</a:t>
            </a:r>
          </a:p>
          <a:p>
            <a:endParaRPr lang="en-US" dirty="0"/>
          </a:p>
          <a:p>
            <a:r>
              <a:rPr lang="en-US" dirty="0"/>
              <a:t>Dataset: Financial Sample Dataset</a:t>
            </a:r>
          </a:p>
          <a:p>
            <a:r>
              <a:rPr lang="en-US" dirty="0"/>
              <a:t>Date: July 2026</a:t>
            </a:r>
          </a:p>
          <a:p>
            <a:endParaRPr lang="en-IN" dirty="0"/>
          </a:p>
        </p:txBody>
      </p:sp>
    </p:spTree>
    <p:extLst>
      <p:ext uri="{BB962C8B-B14F-4D97-AF65-F5344CB8AC3E}">
        <p14:creationId xmlns:p14="http://schemas.microsoft.com/office/powerpoint/2010/main" val="2477855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C7A8E9-B37C-3E12-20AC-0A534F43418C}"/>
              </a:ext>
            </a:extLst>
          </p:cNvPr>
          <p:cNvSpPr txBox="1"/>
          <p:nvPr/>
        </p:nvSpPr>
        <p:spPr>
          <a:xfrm>
            <a:off x="1494502" y="648929"/>
            <a:ext cx="9173497" cy="3908762"/>
          </a:xfrm>
          <a:prstGeom prst="rect">
            <a:avLst/>
          </a:prstGeom>
          <a:noFill/>
        </p:spPr>
        <p:txBody>
          <a:bodyPr wrap="square" rtlCol="0">
            <a:spAutoFit/>
          </a:bodyPr>
          <a:lstStyle/>
          <a:p>
            <a:r>
              <a:rPr lang="en-US" sz="3200" b="1" dirty="0"/>
              <a:t>OBJECTIVES</a:t>
            </a:r>
          </a:p>
          <a:p>
            <a:endParaRPr lang="en-US" dirty="0"/>
          </a:p>
          <a:p>
            <a:endParaRPr lang="en-US" dirty="0"/>
          </a:p>
          <a:p>
            <a:r>
              <a:rPr lang="en-US" dirty="0"/>
              <a:t>The objective of this project is to design an interactive business dashboard using Power BI. The dashboard helps business stakeholders monitor sales performance, analyze profits, identify product performance, and make informed business decisions using visual analytics.</a:t>
            </a:r>
          </a:p>
          <a:p>
            <a:r>
              <a:rPr lang="en-US" dirty="0"/>
              <a:t>Goals</a:t>
            </a:r>
          </a:p>
          <a:p>
            <a:r>
              <a:rPr lang="en-US" dirty="0"/>
              <a:t>Visualize sales performance.</a:t>
            </a:r>
          </a:p>
          <a:p>
            <a:r>
              <a:rPr lang="en-US" dirty="0"/>
              <a:t>Monitor profit across countries.</a:t>
            </a:r>
          </a:p>
          <a:p>
            <a:r>
              <a:rPr lang="en-US" dirty="0"/>
              <a:t>Analyze product-wise sales.</a:t>
            </a:r>
          </a:p>
          <a:p>
            <a:r>
              <a:rPr lang="en-US" dirty="0"/>
              <a:t>Compare sales by business segment.</a:t>
            </a:r>
          </a:p>
          <a:p>
            <a:r>
              <a:rPr lang="en-US" dirty="0"/>
              <a:t>Enable interactive filtering using slicers.</a:t>
            </a:r>
            <a:endParaRPr lang="en-IN" dirty="0"/>
          </a:p>
        </p:txBody>
      </p:sp>
    </p:spTree>
    <p:extLst>
      <p:ext uri="{BB962C8B-B14F-4D97-AF65-F5344CB8AC3E}">
        <p14:creationId xmlns:p14="http://schemas.microsoft.com/office/powerpoint/2010/main" val="2663489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EF864B-AB0D-D1DD-136A-A69DC756C7EB}"/>
              </a:ext>
            </a:extLst>
          </p:cNvPr>
          <p:cNvSpPr txBox="1"/>
          <p:nvPr/>
        </p:nvSpPr>
        <p:spPr>
          <a:xfrm>
            <a:off x="1022555" y="373626"/>
            <a:ext cx="8367251" cy="5509200"/>
          </a:xfrm>
          <a:prstGeom prst="rect">
            <a:avLst/>
          </a:prstGeom>
          <a:noFill/>
        </p:spPr>
        <p:txBody>
          <a:bodyPr wrap="square" rtlCol="0">
            <a:spAutoFit/>
          </a:bodyPr>
          <a:lstStyle/>
          <a:p>
            <a:r>
              <a:rPr lang="en-IN" sz="3200" b="1" dirty="0"/>
              <a:t>Dataset</a:t>
            </a:r>
          </a:p>
          <a:p>
            <a:pPr marL="285750" indent="-285750">
              <a:buFont typeface="Arial" panose="020B0604020202020204" pitchFamily="34" charset="0"/>
              <a:buChar char="•"/>
            </a:pPr>
            <a:r>
              <a:rPr lang="en-IN" dirty="0"/>
              <a:t>Financial Sample Dataset</a:t>
            </a:r>
          </a:p>
          <a:p>
            <a:pPr marL="285750" indent="-285750">
              <a:buFont typeface="Arial" panose="020B0604020202020204" pitchFamily="34" charset="0"/>
              <a:buChar char="•"/>
            </a:pPr>
            <a:r>
              <a:rPr lang="en-IN" dirty="0"/>
              <a:t>Dataset contains</a:t>
            </a:r>
          </a:p>
          <a:p>
            <a:pPr marL="285750" indent="-285750">
              <a:buFont typeface="Arial" panose="020B0604020202020204" pitchFamily="34" charset="0"/>
              <a:buChar char="•"/>
            </a:pPr>
            <a:r>
              <a:rPr lang="en-IN" dirty="0"/>
              <a:t>Date</a:t>
            </a:r>
          </a:p>
          <a:p>
            <a:pPr marL="285750" indent="-285750">
              <a:buFont typeface="Arial" panose="020B0604020202020204" pitchFamily="34" charset="0"/>
              <a:buChar char="•"/>
            </a:pPr>
            <a:r>
              <a:rPr lang="en-IN" dirty="0"/>
              <a:t>Year</a:t>
            </a:r>
          </a:p>
          <a:p>
            <a:pPr marL="285750" indent="-285750">
              <a:buFont typeface="Arial" panose="020B0604020202020204" pitchFamily="34" charset="0"/>
              <a:buChar char="•"/>
            </a:pPr>
            <a:r>
              <a:rPr lang="en-IN" dirty="0"/>
              <a:t>Country</a:t>
            </a:r>
          </a:p>
          <a:p>
            <a:pPr marL="285750" indent="-285750">
              <a:buFont typeface="Arial" panose="020B0604020202020204" pitchFamily="34" charset="0"/>
              <a:buChar char="•"/>
            </a:pPr>
            <a:r>
              <a:rPr lang="en-IN" dirty="0"/>
              <a:t>Product</a:t>
            </a:r>
          </a:p>
          <a:p>
            <a:pPr marL="285750" indent="-285750">
              <a:buFont typeface="Arial" panose="020B0604020202020204" pitchFamily="34" charset="0"/>
              <a:buChar char="•"/>
            </a:pPr>
            <a:r>
              <a:rPr lang="en-IN" dirty="0"/>
              <a:t>Segment</a:t>
            </a:r>
          </a:p>
          <a:p>
            <a:pPr marL="285750" indent="-285750">
              <a:buFont typeface="Arial" panose="020B0604020202020204" pitchFamily="34" charset="0"/>
              <a:buChar char="•"/>
            </a:pPr>
            <a:r>
              <a:rPr lang="en-IN" dirty="0"/>
              <a:t>Sales</a:t>
            </a:r>
          </a:p>
          <a:p>
            <a:pPr marL="285750" indent="-285750">
              <a:buFont typeface="Arial" panose="020B0604020202020204" pitchFamily="34" charset="0"/>
              <a:buChar char="•"/>
            </a:pPr>
            <a:r>
              <a:rPr lang="en-IN" dirty="0"/>
              <a:t>Profit</a:t>
            </a:r>
          </a:p>
          <a:p>
            <a:pPr marL="285750" indent="-285750">
              <a:buFont typeface="Arial" panose="020B0604020202020204" pitchFamily="34" charset="0"/>
              <a:buChar char="•"/>
            </a:pPr>
            <a:r>
              <a:rPr lang="en-IN" dirty="0"/>
              <a:t>Units Sold</a:t>
            </a:r>
          </a:p>
          <a:p>
            <a:pPr marL="285750" indent="-285750">
              <a:buFont typeface="Arial" panose="020B0604020202020204" pitchFamily="34" charset="0"/>
              <a:buChar char="•"/>
            </a:pPr>
            <a:r>
              <a:rPr lang="en-IN" dirty="0"/>
              <a:t>Manufacturing Price</a:t>
            </a:r>
          </a:p>
          <a:p>
            <a:pPr marL="285750" indent="-285750">
              <a:buFont typeface="Arial" panose="020B0604020202020204" pitchFamily="34" charset="0"/>
              <a:buChar char="•"/>
            </a:pPr>
            <a:r>
              <a:rPr lang="en-IN" dirty="0"/>
              <a:t>Sale Price</a:t>
            </a:r>
          </a:p>
          <a:p>
            <a:pPr marL="285750" indent="-285750">
              <a:buFont typeface="Arial" panose="020B0604020202020204" pitchFamily="34" charset="0"/>
              <a:buChar char="•"/>
            </a:pPr>
            <a:r>
              <a:rPr lang="en-IN" dirty="0"/>
              <a:t>Discounts</a:t>
            </a:r>
          </a:p>
          <a:p>
            <a:r>
              <a:rPr lang="en-IN" sz="3200" b="1" dirty="0"/>
              <a:t>Tools Used</a:t>
            </a:r>
          </a:p>
          <a:p>
            <a:pPr marL="285750" indent="-285750">
              <a:buFont typeface="Arial" panose="020B0604020202020204" pitchFamily="34" charset="0"/>
              <a:buChar char="•"/>
            </a:pPr>
            <a:r>
              <a:rPr lang="en-IN" dirty="0"/>
              <a:t>Microsoft Power BI Desktop</a:t>
            </a:r>
          </a:p>
          <a:p>
            <a:pPr marL="285750" indent="-285750">
              <a:buFont typeface="Arial" panose="020B0604020202020204" pitchFamily="34" charset="0"/>
              <a:buChar char="•"/>
            </a:pPr>
            <a:r>
              <a:rPr lang="en-IN" dirty="0"/>
              <a:t>Microsoft Excel</a:t>
            </a:r>
          </a:p>
          <a:p>
            <a:pPr marL="285750" indent="-285750">
              <a:buFont typeface="Arial" panose="020B0604020202020204" pitchFamily="34" charset="0"/>
              <a:buChar char="•"/>
            </a:pPr>
            <a:r>
              <a:rPr lang="en-IN" dirty="0"/>
              <a:t>GitHub</a:t>
            </a:r>
          </a:p>
        </p:txBody>
      </p:sp>
    </p:spTree>
    <p:extLst>
      <p:ext uri="{BB962C8B-B14F-4D97-AF65-F5344CB8AC3E}">
        <p14:creationId xmlns:p14="http://schemas.microsoft.com/office/powerpoint/2010/main" val="1573079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D3B0A2-D1AF-5F7F-1E7A-9AF31F3519B2}"/>
              </a:ext>
            </a:extLst>
          </p:cNvPr>
          <p:cNvSpPr txBox="1"/>
          <p:nvPr/>
        </p:nvSpPr>
        <p:spPr>
          <a:xfrm>
            <a:off x="1071716" y="550606"/>
            <a:ext cx="4709652" cy="5016758"/>
          </a:xfrm>
          <a:prstGeom prst="rect">
            <a:avLst/>
          </a:prstGeom>
          <a:noFill/>
        </p:spPr>
        <p:txBody>
          <a:bodyPr wrap="square" rtlCol="0">
            <a:spAutoFit/>
          </a:bodyPr>
          <a:lstStyle/>
          <a:p>
            <a:r>
              <a:rPr lang="en-US" sz="3200" b="1" dirty="0"/>
              <a:t>Dashboard Components</a:t>
            </a:r>
          </a:p>
          <a:p>
            <a:r>
              <a:rPr lang="en-US" sz="2400" b="1" dirty="0"/>
              <a:t>KPI Cards</a:t>
            </a:r>
          </a:p>
          <a:p>
            <a:pPr marL="285750" indent="-285750">
              <a:buFont typeface="Wingdings" panose="05000000000000000000" pitchFamily="2" charset="2"/>
              <a:buChar char="Ø"/>
            </a:pPr>
            <a:r>
              <a:rPr lang="en-US" dirty="0"/>
              <a:t>Total Sales</a:t>
            </a:r>
          </a:p>
          <a:p>
            <a:pPr marL="285750" indent="-285750">
              <a:buFont typeface="Wingdings" panose="05000000000000000000" pitchFamily="2" charset="2"/>
              <a:buChar char="Ø"/>
            </a:pPr>
            <a:r>
              <a:rPr lang="en-US" dirty="0"/>
              <a:t>Total Profit</a:t>
            </a:r>
          </a:p>
          <a:p>
            <a:pPr marL="285750" indent="-285750">
              <a:buFont typeface="Wingdings" panose="05000000000000000000" pitchFamily="2" charset="2"/>
              <a:buChar char="Ø"/>
            </a:pPr>
            <a:r>
              <a:rPr lang="en-US" dirty="0"/>
              <a:t>Units Sold</a:t>
            </a:r>
          </a:p>
          <a:p>
            <a:pPr marL="285750" indent="-285750">
              <a:buFont typeface="Wingdings" panose="05000000000000000000" pitchFamily="2" charset="2"/>
              <a:buChar char="Ø"/>
            </a:pPr>
            <a:r>
              <a:rPr lang="en-US" dirty="0"/>
              <a:t>Average Sales</a:t>
            </a:r>
          </a:p>
          <a:p>
            <a:r>
              <a:rPr lang="en-US" sz="2400" b="1" dirty="0"/>
              <a:t>Charts</a:t>
            </a:r>
          </a:p>
          <a:p>
            <a:pPr marL="285750" indent="-285750">
              <a:buFont typeface="Wingdings" panose="05000000000000000000" pitchFamily="2" charset="2"/>
              <a:buChar char="Ø"/>
            </a:pPr>
            <a:r>
              <a:rPr lang="en-US" dirty="0"/>
              <a:t>Sales Trend (Line Chart)</a:t>
            </a:r>
          </a:p>
          <a:p>
            <a:pPr marL="285750" indent="-285750">
              <a:buFont typeface="Wingdings" panose="05000000000000000000" pitchFamily="2" charset="2"/>
              <a:buChar char="Ø"/>
            </a:pPr>
            <a:r>
              <a:rPr lang="en-US" dirty="0"/>
              <a:t>Product-wise Sales (Bar Chart)</a:t>
            </a:r>
          </a:p>
          <a:p>
            <a:pPr marL="285750" indent="-285750">
              <a:buFont typeface="Wingdings" panose="05000000000000000000" pitchFamily="2" charset="2"/>
              <a:buChar char="Ø"/>
            </a:pPr>
            <a:r>
              <a:rPr lang="en-US" dirty="0"/>
              <a:t>Country-wise Profit (Column Chart)</a:t>
            </a:r>
          </a:p>
          <a:p>
            <a:pPr marL="285750" indent="-285750">
              <a:buFont typeface="Wingdings" panose="05000000000000000000" pitchFamily="2" charset="2"/>
              <a:buChar char="Ø"/>
            </a:pPr>
            <a:r>
              <a:rPr lang="en-US" dirty="0"/>
              <a:t>Sales by Segment (Pie Chart)</a:t>
            </a:r>
          </a:p>
          <a:p>
            <a:r>
              <a:rPr lang="en-US" sz="2400" b="1" dirty="0"/>
              <a:t>Interactive Filters</a:t>
            </a:r>
          </a:p>
          <a:p>
            <a:pPr marL="285750" indent="-285750">
              <a:buFont typeface="Wingdings" panose="05000000000000000000" pitchFamily="2" charset="2"/>
              <a:buChar char="Ø"/>
            </a:pPr>
            <a:r>
              <a:rPr lang="en-US" dirty="0"/>
              <a:t>Year</a:t>
            </a:r>
          </a:p>
          <a:p>
            <a:pPr marL="285750" indent="-285750">
              <a:buFont typeface="Wingdings" panose="05000000000000000000" pitchFamily="2" charset="2"/>
              <a:buChar char="Ø"/>
            </a:pPr>
            <a:r>
              <a:rPr lang="en-US" dirty="0"/>
              <a:t>Country</a:t>
            </a:r>
          </a:p>
          <a:p>
            <a:pPr marL="285750" indent="-285750">
              <a:buFont typeface="Wingdings" panose="05000000000000000000" pitchFamily="2" charset="2"/>
              <a:buChar char="Ø"/>
            </a:pPr>
            <a:r>
              <a:rPr lang="en-US" dirty="0"/>
              <a:t>Product</a:t>
            </a:r>
          </a:p>
          <a:p>
            <a:pPr marL="285750" indent="-285750">
              <a:buFont typeface="Wingdings" panose="05000000000000000000" pitchFamily="2" charset="2"/>
              <a:buChar char="Ø"/>
            </a:pPr>
            <a:r>
              <a:rPr lang="en-US" dirty="0"/>
              <a:t>Segment</a:t>
            </a:r>
            <a:endParaRPr lang="en-IN" dirty="0"/>
          </a:p>
        </p:txBody>
      </p:sp>
      <p:pic>
        <p:nvPicPr>
          <p:cNvPr id="6" name="Picture 5">
            <a:extLst>
              <a:ext uri="{FF2B5EF4-FFF2-40B4-BE49-F238E27FC236}">
                <a16:creationId xmlns:a16="http://schemas.microsoft.com/office/drawing/2014/main" id="{1876AC2A-5A79-A3B5-584D-C12EFEFBBFA9}"/>
              </a:ext>
            </a:extLst>
          </p:cNvPr>
          <p:cNvPicPr>
            <a:picLocks noChangeAspect="1"/>
          </p:cNvPicPr>
          <p:nvPr/>
        </p:nvPicPr>
        <p:blipFill>
          <a:blip r:embed="rId2">
            <a:extLst>
              <a:ext uri="{28A0092B-C50C-407E-A947-70E740481C1C}">
                <a14:useLocalDpi xmlns:a14="http://schemas.microsoft.com/office/drawing/2010/main" val="0"/>
              </a:ext>
            </a:extLst>
          </a:blip>
          <a:srcRect l="14596" t="20724" r="19274" b="9256"/>
          <a:stretch>
            <a:fillRect/>
          </a:stretch>
        </p:blipFill>
        <p:spPr>
          <a:xfrm>
            <a:off x="5063612" y="1290636"/>
            <a:ext cx="6892414" cy="4929725"/>
          </a:xfrm>
          <a:prstGeom prst="rect">
            <a:avLst/>
          </a:prstGeom>
        </p:spPr>
      </p:pic>
    </p:spTree>
    <p:extLst>
      <p:ext uri="{BB962C8B-B14F-4D97-AF65-F5344CB8AC3E}">
        <p14:creationId xmlns:p14="http://schemas.microsoft.com/office/powerpoint/2010/main" val="347211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B1D063-819F-6AB5-CABA-51B7FBACF376}"/>
              </a:ext>
            </a:extLst>
          </p:cNvPr>
          <p:cNvSpPr txBox="1"/>
          <p:nvPr/>
        </p:nvSpPr>
        <p:spPr>
          <a:xfrm>
            <a:off x="1130710" y="658761"/>
            <a:ext cx="8436078" cy="4401205"/>
          </a:xfrm>
          <a:prstGeom prst="rect">
            <a:avLst/>
          </a:prstGeom>
          <a:noFill/>
        </p:spPr>
        <p:txBody>
          <a:bodyPr wrap="square" rtlCol="0">
            <a:spAutoFit/>
          </a:bodyPr>
          <a:lstStyle/>
          <a:p>
            <a:endParaRPr lang="en-US" dirty="0"/>
          </a:p>
          <a:p>
            <a:r>
              <a:rPr lang="en-US" sz="3200" b="1" dirty="0"/>
              <a:t>Conclusion</a:t>
            </a:r>
          </a:p>
          <a:p>
            <a:endParaRPr lang="en-US" sz="3200" b="1" dirty="0"/>
          </a:p>
          <a:p>
            <a:r>
              <a:rPr lang="en-US" dirty="0"/>
              <a:t>The dashboard successfully provides an interactive overview of business performance. Using Power BI visualizations and slicers, users can quickly analyze sales, profits, products, and regional performance. The project demonstrates how dashboards support data-driven decision-making by presenting complex information in a simple and interactive format.</a:t>
            </a:r>
          </a:p>
          <a:p>
            <a:r>
              <a:rPr lang="en-US" dirty="0"/>
              <a:t>Future Improvements</a:t>
            </a:r>
          </a:p>
          <a:p>
            <a:r>
              <a:rPr lang="en-US" dirty="0"/>
              <a:t>Add monthly growth analysis.</a:t>
            </a:r>
          </a:p>
          <a:p>
            <a:r>
              <a:rPr lang="en-US" dirty="0"/>
              <a:t>Include forecast visuals.</a:t>
            </a:r>
          </a:p>
          <a:p>
            <a:r>
              <a:rPr lang="en-US" dirty="0"/>
              <a:t>Add navigation buttons.</a:t>
            </a:r>
          </a:p>
          <a:p>
            <a:r>
              <a:rPr lang="en-US" dirty="0"/>
              <a:t>Connect to live business data.</a:t>
            </a:r>
          </a:p>
          <a:p>
            <a:r>
              <a:rPr lang="en-US" dirty="0"/>
              <a:t>Publish the dashboard to the Power BI Service.</a:t>
            </a:r>
            <a:endParaRPr lang="en-IN" dirty="0"/>
          </a:p>
        </p:txBody>
      </p:sp>
    </p:spTree>
    <p:extLst>
      <p:ext uri="{BB962C8B-B14F-4D97-AF65-F5344CB8AC3E}">
        <p14:creationId xmlns:p14="http://schemas.microsoft.com/office/powerpoint/2010/main" val="922649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253</Words>
  <Application>Microsoft Office PowerPoint</Application>
  <PresentationFormat>Widescreen</PresentationFormat>
  <Paragraphs>63</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Wingdings</vt:lpstr>
      <vt:lpstr>Office Theme</vt:lpstr>
      <vt:lpstr>Sales Performance Dashboard</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Adithyan A S</dc:creator>
  <cp:lastModifiedBy>Adithyan A S</cp:lastModifiedBy>
  <cp:revision>1</cp:revision>
  <dcterms:created xsi:type="dcterms:W3CDTF">2026-07-03T08:37:25Z</dcterms:created>
  <dcterms:modified xsi:type="dcterms:W3CDTF">2026-07-03T08:44:21Z</dcterms:modified>
</cp:coreProperties>
</file>